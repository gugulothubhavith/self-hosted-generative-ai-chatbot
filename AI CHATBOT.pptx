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68" r:id="rId3"/>
    <p:sldId id="257" r:id="rId4"/>
    <p:sldId id="258" r:id="rId5"/>
    <p:sldId id="259" r:id="rId6"/>
    <p:sldId id="260" r:id="rId7"/>
    <p:sldId id="269" r:id="rId8"/>
    <p:sldId id="270" r:id="rId9"/>
    <p:sldId id="261" r:id="rId10"/>
    <p:sldId id="271" r:id="rId11"/>
    <p:sldId id="262" r:id="rId12"/>
    <p:sldId id="272" r:id="rId13"/>
    <p:sldId id="263" r:id="rId14"/>
    <p:sldId id="273" r:id="rId15"/>
    <p:sldId id="264" r:id="rId16"/>
    <p:sldId id="274" r:id="rId17"/>
    <p:sldId id="265" r:id="rId18"/>
    <p:sldId id="266" r:id="rId19"/>
    <p:sldId id="267" r:id="rId20"/>
  </p:sldIdLst>
  <p:sldSz cx="14630400" cy="8229600"/>
  <p:notesSz cx="8229600" cy="14630400"/>
  <p:embeddedFontLst>
    <p:embeddedFont>
      <p:font typeface="Lora" pitchFamily="2" charset="0"/>
      <p:regular r:id="rId22"/>
      <p:bold r:id="rId23"/>
      <p:italic r:id="rId24"/>
      <p:boldItalic r:id="rId25"/>
    </p:embeddedFont>
    <p:embeddedFont>
      <p:font typeface="Source Sans 3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A4CB93-B1E2-47D0-B102-31D2C8910579}" v="29" dt="2026-01-27T03:56:34.4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82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4664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AD0FC-F49B-6930-3D47-60776E6EB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BB249E-1332-E7B0-8E5A-2DB811598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1BCC40-9745-70AE-4653-8F9D20A96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E0CC1-9108-7C00-8066-39AD6C29AB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374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E9A1D-1360-833D-5D19-7070BFB66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CAE80-D4B7-B3EE-6969-FC1D79BF6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08F992-A2C0-CDEC-A428-638C384F1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8E255-75B4-C25A-E8B9-6ACAF6CB1B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02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650C0-12B1-DB04-524D-075A6C809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6B3C93-0313-56AF-ED3A-1FAB7D4678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FAA6D2-9AA7-2E90-2007-01CCE8CB8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FEC26-EAB5-ED64-C4CD-E434B094FF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2039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42374-89F9-3448-7439-F4EC827DC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E8049C-8C6B-6A85-5563-727B100BD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659FF6-78D2-EB45-4ECF-1B5C50CAB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A2DE0-F320-B751-151B-39DCEC2943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0917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E6F7F-7909-15D3-412C-8FF4FF6F4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55BC7A-08E7-DFC1-F3C5-9633B60B5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0A9917-D2AE-9DD8-C6AE-DCFB75D98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272BE-50D0-9FF7-523C-7572E03340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961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56148-1946-8ABF-DBE6-B2F2641AF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C2046D-6453-88C7-2668-E4A4673971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4C992A-C796-6CF6-70AA-D2D172E40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E4819-9DF1-E9B7-61CA-929F3469EC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759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590EF-3D63-6C6E-32F3-004053C19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63F869-A0BA-2997-4CAC-4E37B38AF1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525F99-3088-1879-EE70-ABE01B541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4151D-33DF-6F07-CEA0-BF30E2362B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2610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9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.png"/><Relationship Id="rId4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.pn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3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png"/><Relationship Id="rId4" Type="http://schemas.openxmlformats.org/officeDocument/2006/relationships/image" Target="../media/image3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746647"/>
            <a:ext cx="12954952" cy="1231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Design and Implementation of a Secure, Self-Hosted Generative AI Chatbot Platform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3292554"/>
            <a:ext cx="1295495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Privacy, Performance, and Autonomy in the Age of Generative AI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7724" y="3967854"/>
            <a:ext cx="12954952" cy="33695"/>
          </a:xfrm>
          <a:prstGeom prst="rect">
            <a:avLst/>
          </a:prstGeom>
          <a:solidFill>
            <a:srgbClr val="3A3630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37724" y="4237077"/>
            <a:ext cx="129549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Under the Guidance of:</a:t>
            </a: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Mr. Lakshman (G)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Department:</a:t>
            </a: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Department of Computer Science and Engineering (Data science)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7724" y="5142786"/>
            <a:ext cx="12954952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Team Members:</a:t>
            </a: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Gugulothu Bhavith (23XY1A6704)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Korra Akhil (23XY1A6705)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Anavena Subhash (24XY5A6701)</a:t>
            </a:r>
            <a:endParaRPr lang="en-US" sz="1600" dirty="0"/>
          </a:p>
        </p:txBody>
      </p:sp>
      <p:pic>
        <p:nvPicPr>
          <p:cNvPr id="10" name="Picture 9" descr="A white surface with a yellow background&#10;&#10;AI-generated content may be incorrect.">
            <a:extLst>
              <a:ext uri="{FF2B5EF4-FFF2-40B4-BE49-F238E27FC236}">
                <a16:creationId xmlns:a16="http://schemas.microsoft.com/office/drawing/2014/main" id="{4A5577DC-CBF6-AB9E-3608-8926E98DC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8893" y="7071260"/>
            <a:ext cx="2621507" cy="11583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85853-45ED-A9CD-ECFE-232BA606C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3166B37-8504-5E00-7129-5290BED44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523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331000"/>
            <a:ext cx="1098233" cy="393502"/>
          </a:xfrm>
          <a:prstGeom prst="roundRect">
            <a:avLst>
              <a:gd name="adj" fmla="val 6388"/>
            </a:avLst>
          </a:prstGeom>
          <a:solidFill>
            <a:srgbClr val="E2EC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63335" y="1393746"/>
            <a:ext cx="847011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37724" y="1808202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AI Trust Gap</a:t>
            </a:r>
            <a:endParaRPr lang="en-US" sz="3850" dirty="0"/>
          </a:p>
        </p:txBody>
      </p:sp>
      <p:sp>
        <p:nvSpPr>
          <p:cNvPr id="5" name="Text 3"/>
          <p:cNvSpPr/>
          <p:nvPr/>
        </p:nvSpPr>
        <p:spPr>
          <a:xfrm>
            <a:off x="837724" y="2738199"/>
            <a:ext cx="129549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Cloud-based AI systems present significant challenges for organisations handling sensitive data. The reliance on external providers creates vulnerabilities in data governance, performance, and operational autonomy.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7724" y="3643908"/>
            <a:ext cx="6372701" cy="1522571"/>
          </a:xfrm>
          <a:prstGeom prst="roundRect">
            <a:avLst>
              <a:gd name="adj" fmla="val 2064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47155" y="3853339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Governance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47155" y="4286964"/>
            <a:ext cx="5953839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Cloud-based AIs pose serious risks for sensitive academic, research, and enterprise data, compromising institutional control.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19856" y="3643908"/>
            <a:ext cx="6372820" cy="1522571"/>
          </a:xfrm>
          <a:prstGeom prst="roundRect">
            <a:avLst>
              <a:gd name="adj" fmla="val 2064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629287" y="3853339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Latency 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629287" y="4286964"/>
            <a:ext cx="5953958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API round-trips can be slow for real-time applications, impacting user experience and productivity.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7724" y="5375910"/>
            <a:ext cx="6372701" cy="1522571"/>
          </a:xfrm>
          <a:prstGeom prst="roundRect">
            <a:avLst>
              <a:gd name="adj" fmla="val 2064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47155" y="5585341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Dependency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47155" y="6018967"/>
            <a:ext cx="5953839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Reliance on third-party vendors and fluctuating API pricing creates operational and financial uncertainty.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19856" y="5375910"/>
            <a:ext cx="6372820" cy="1522571"/>
          </a:xfrm>
          <a:prstGeom prst="roundRect">
            <a:avLst>
              <a:gd name="adj" fmla="val 2064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629287" y="5585341"/>
            <a:ext cx="267116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Compliance Challenges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629287" y="6018967"/>
            <a:ext cx="5953958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Meeting data protection and privacy regulations becomes complex when data traverses external systems.</a:t>
            </a:r>
            <a:endParaRPr lang="en-US" sz="1600" dirty="0"/>
          </a:p>
        </p:txBody>
      </p:sp>
      <p:pic>
        <p:nvPicPr>
          <p:cNvPr id="19" name="Picture 18" descr="A white surface with a yellow background&#10;&#10;AI-generated content may be incorrect.">
            <a:extLst>
              <a:ext uri="{FF2B5EF4-FFF2-40B4-BE49-F238E27FC236}">
                <a16:creationId xmlns:a16="http://schemas.microsoft.com/office/drawing/2014/main" id="{3C34B387-2E2F-78A8-8D95-DEACDF1C9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8893" y="7024092"/>
            <a:ext cx="2621507" cy="11583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056084"/>
            <a:ext cx="990005" cy="393502"/>
          </a:xfrm>
          <a:prstGeom prst="roundRect">
            <a:avLst>
              <a:gd name="adj" fmla="val 6388"/>
            </a:avLst>
          </a:prstGeom>
          <a:solidFill>
            <a:srgbClr val="E2EC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63335" y="1118830"/>
            <a:ext cx="738783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37724" y="1533287"/>
            <a:ext cx="6681787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Secure Sovereign AI Platform</a:t>
            </a:r>
            <a:endParaRPr lang="en-US" sz="3850" dirty="0"/>
          </a:p>
        </p:txBody>
      </p:sp>
      <p:sp>
        <p:nvSpPr>
          <p:cNvPr id="5" name="Text 3"/>
          <p:cNvSpPr/>
          <p:nvPr/>
        </p:nvSpPr>
        <p:spPr>
          <a:xfrm>
            <a:off x="837724" y="2463284"/>
            <a:ext cx="129549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platform addresses these challenges through a fully self-hosted architecture that prioritises data sovereignty, multi-provider flexibility, and advanced autonomous capabilities.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7724" y="3368993"/>
            <a:ext cx="6372701" cy="1965007"/>
          </a:xfrm>
          <a:prstGeom prst="roundRect">
            <a:avLst>
              <a:gd name="adj" fmla="val 5584"/>
            </a:avLst>
          </a:prstGeom>
          <a:solidFill>
            <a:srgbClr val="FEF5E7"/>
          </a:solidFill>
          <a:ln w="22860">
            <a:solidFill>
              <a:srgbClr val="3851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14864" y="3368993"/>
            <a:ext cx="91440" cy="1965007"/>
          </a:xfrm>
          <a:prstGeom prst="roundRect">
            <a:avLst>
              <a:gd name="adj" fmla="val 34360"/>
            </a:avLst>
          </a:prstGeom>
          <a:solidFill>
            <a:srgbClr val="3851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38595" y="3601283"/>
            <a:ext cx="2957036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Fully Self-Hosted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138595" y="4096583"/>
            <a:ext cx="5839539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Runs entirely on local infrastructure or private cloud (VPC), ensuring complete control over the deployment environment and data flow.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19856" y="3368993"/>
            <a:ext cx="6372820" cy="1965007"/>
          </a:xfrm>
          <a:prstGeom prst="roundRect">
            <a:avLst>
              <a:gd name="adj" fmla="val 5584"/>
            </a:avLst>
          </a:prstGeom>
          <a:solidFill>
            <a:srgbClr val="FEF5E7"/>
          </a:solidFill>
          <a:ln w="22860">
            <a:solidFill>
              <a:srgbClr val="3851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396996" y="3368993"/>
            <a:ext cx="91440" cy="1965007"/>
          </a:xfrm>
          <a:prstGeom prst="roundRect">
            <a:avLst>
              <a:gd name="adj" fmla="val 34360"/>
            </a:avLst>
          </a:prstGeom>
          <a:solidFill>
            <a:srgbClr val="3851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720727" y="3601283"/>
            <a:ext cx="2957036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Sovereignty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720727" y="4096583"/>
            <a:ext cx="5839658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data never leaves institutional or enterprise systems, maintaining absolute privacy and compliance with data protection regulations.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7724" y="5543431"/>
            <a:ext cx="6372701" cy="1629966"/>
          </a:xfrm>
          <a:prstGeom prst="roundRect">
            <a:avLst>
              <a:gd name="adj" fmla="val 6732"/>
            </a:avLst>
          </a:prstGeom>
          <a:solidFill>
            <a:srgbClr val="FEF5E7"/>
          </a:solidFill>
          <a:ln w="22860">
            <a:solidFill>
              <a:srgbClr val="3851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14864" y="5543431"/>
            <a:ext cx="91440" cy="1629966"/>
          </a:xfrm>
          <a:prstGeom prst="roundRect">
            <a:avLst>
              <a:gd name="adj" fmla="val 34360"/>
            </a:avLst>
          </a:prstGeom>
          <a:solidFill>
            <a:srgbClr val="3851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138595" y="5775722"/>
            <a:ext cx="2995374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Multi-Provider Agility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138595" y="6271022"/>
            <a:ext cx="5839539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Supports Groq, Gemini, OpenRouter, and local Ollama, providing flexibility and avoiding vendor lock-in.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19856" y="5543431"/>
            <a:ext cx="6372820" cy="1629966"/>
          </a:xfrm>
          <a:prstGeom prst="roundRect">
            <a:avLst>
              <a:gd name="adj" fmla="val 6732"/>
            </a:avLst>
          </a:prstGeom>
          <a:solidFill>
            <a:srgbClr val="FEF5E7"/>
          </a:solidFill>
          <a:ln w="22860">
            <a:solidFill>
              <a:srgbClr val="3851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396996" y="5543431"/>
            <a:ext cx="91440" cy="1629966"/>
          </a:xfrm>
          <a:prstGeom prst="roundRect">
            <a:avLst>
              <a:gd name="adj" fmla="val 34360"/>
            </a:avLst>
          </a:prstGeom>
          <a:solidFill>
            <a:srgbClr val="3851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720727" y="5775722"/>
            <a:ext cx="2957036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Autonomous Agents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7720727" y="6271022"/>
            <a:ext cx="5839658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Enables multi-step reasoning and complex task execution beyond basic chatbot functionality.</a:t>
            </a:r>
            <a:endParaRPr lang="en-US" sz="1600" dirty="0"/>
          </a:p>
        </p:txBody>
      </p:sp>
      <p:pic>
        <p:nvPicPr>
          <p:cNvPr id="23" name="Picture 22" descr="A white surface with a yellow background&#10;&#10;AI-generated content may be incorrect.">
            <a:extLst>
              <a:ext uri="{FF2B5EF4-FFF2-40B4-BE49-F238E27FC236}">
                <a16:creationId xmlns:a16="http://schemas.microsoft.com/office/drawing/2014/main" id="{5DF20220-BD24-3A38-B1B7-8D6E59B2D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4321" y="7427147"/>
            <a:ext cx="1816079" cy="8024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13805"/>
            <a:ext cx="6341388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Technology Stack Overview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1948577"/>
            <a:ext cx="1295495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platform leverages cutting-edge technologies across the full stack to deliver enterprise-grade performance, security, and scalability.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7724" y="2519243"/>
            <a:ext cx="12954952" cy="4225766"/>
          </a:xfrm>
          <a:prstGeom prst="roundRect">
            <a:avLst>
              <a:gd name="adj" fmla="val 74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45344" y="2526863"/>
            <a:ext cx="12939713" cy="6015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54775" y="2660094"/>
            <a:ext cx="345924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Domain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40498" y="2660094"/>
            <a:ext cx="8635127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5344" y="3128367"/>
            <a:ext cx="12939713" cy="6015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54775" y="3261598"/>
            <a:ext cx="345924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40498" y="3261598"/>
            <a:ext cx="8635127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 18, Vite, TypeScript, Tailwind CSS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5344" y="3729871"/>
            <a:ext cx="12939713" cy="6015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54775" y="3863102"/>
            <a:ext cx="345924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Backend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40498" y="3863102"/>
            <a:ext cx="8635127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FastAPI (Python 3.11), Uvicorn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45344" y="4331375"/>
            <a:ext cx="12939713" cy="6015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54775" y="4464606"/>
            <a:ext cx="345924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40498" y="4464606"/>
            <a:ext cx="8635127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PostgreSQL (Relational), ChromaDB (Vector)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5344" y="4932878"/>
            <a:ext cx="12939713" cy="6015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54775" y="5066109"/>
            <a:ext cx="345924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Caching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40498" y="5066109"/>
            <a:ext cx="8635127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Redis (Session History &amp; Performance)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45344" y="5534382"/>
            <a:ext cx="12939713" cy="6015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54775" y="5667613"/>
            <a:ext cx="345924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Orchestration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40498" y="5667613"/>
            <a:ext cx="8635127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Docker, Docker Compose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45344" y="6135886"/>
            <a:ext cx="12939713" cy="6015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054775" y="6269117"/>
            <a:ext cx="345924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AI/ML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40498" y="6269117"/>
            <a:ext cx="8635127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Ollama, Groq, Gemini, Faster Whisper, BGE-Large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7724" y="6980634"/>
            <a:ext cx="1295495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modern stack ensures high performance, maintainability, and seamless integration across all system components.</a:t>
            </a:r>
            <a:endParaRPr lang="en-US" sz="1600" dirty="0"/>
          </a:p>
        </p:txBody>
      </p:sp>
      <p:pic>
        <p:nvPicPr>
          <p:cNvPr id="28" name="Picture 27" descr="A white surface with a yellow background&#10;&#10;AI-generated content may be incorrect.">
            <a:extLst>
              <a:ext uri="{FF2B5EF4-FFF2-40B4-BE49-F238E27FC236}">
                <a16:creationId xmlns:a16="http://schemas.microsoft.com/office/drawing/2014/main" id="{CCBDE17C-5B4D-2D36-C931-8B8850F64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8893" y="7071260"/>
            <a:ext cx="2621507" cy="11583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056084"/>
            <a:ext cx="1555909" cy="393502"/>
          </a:xfrm>
          <a:prstGeom prst="roundRect">
            <a:avLst>
              <a:gd name="adj" fmla="val 6388"/>
            </a:avLst>
          </a:prstGeom>
          <a:solidFill>
            <a:srgbClr val="E2ECD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3335" y="1169075"/>
            <a:ext cx="167521" cy="1675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4557" y="1118830"/>
            <a:ext cx="1053465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CORE FEATURE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37724" y="1533287"/>
            <a:ext cx="6558082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Intelligent Multi-Model Chat</a:t>
            </a:r>
            <a:endParaRPr lang="en-US" sz="3850" dirty="0"/>
          </a:p>
        </p:txBody>
      </p:sp>
      <p:sp>
        <p:nvSpPr>
          <p:cNvPr id="6" name="Text 3"/>
          <p:cNvSpPr/>
          <p:nvPr/>
        </p:nvSpPr>
        <p:spPr>
          <a:xfrm>
            <a:off x="837724" y="2651760"/>
            <a:ext cx="7568565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chat interface provides seamless access to multiple state-of-the-art language models with ultra-low latency streaming and persistent session management.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7724" y="3531275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Capabilities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37724" y="4048720"/>
            <a:ext cx="756856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 for Llama 3.3 (70B), DeepSeek V3, and Gemini 2.0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37724" y="4456986"/>
            <a:ext cx="756856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Ultra-low latency streaming at approximately 300 tokens per second via Groq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37724" y="4865251"/>
            <a:ext cx="756856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Persistent session management using Redis and PostgreSQL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37724" y="5273516"/>
            <a:ext cx="756856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Syntax-highlighted code output for technical queries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37724" y="5681782"/>
            <a:ext cx="756856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model switching without losing conversation context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924925" y="2803565"/>
            <a:ext cx="4875371" cy="69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300</a:t>
            </a:r>
            <a:endParaRPr lang="en-US" sz="5400" dirty="0"/>
          </a:p>
        </p:txBody>
      </p:sp>
      <p:sp>
        <p:nvSpPr>
          <p:cNvPr id="14" name="Text 11"/>
          <p:cNvSpPr/>
          <p:nvPr/>
        </p:nvSpPr>
        <p:spPr>
          <a:xfrm>
            <a:off x="10130552" y="3756422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Tokens/Sec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924925" y="4273868"/>
            <a:ext cx="4875371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Streaming speed via Groq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924925" y="5132427"/>
            <a:ext cx="4875371" cy="69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5400" dirty="0"/>
          </a:p>
        </p:txBody>
      </p:sp>
      <p:sp>
        <p:nvSpPr>
          <p:cNvPr id="17" name="Text 14"/>
          <p:cNvSpPr/>
          <p:nvPr/>
        </p:nvSpPr>
        <p:spPr>
          <a:xfrm>
            <a:off x="10130552" y="6085284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Models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8924925" y="6602730"/>
            <a:ext cx="4875371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Llama, DeepSeek, Gemini</a:t>
            </a:r>
            <a:endParaRPr lang="en-US" sz="1600" dirty="0"/>
          </a:p>
        </p:txBody>
      </p:sp>
      <p:pic>
        <p:nvPicPr>
          <p:cNvPr id="20" name="Picture 19" descr="A white surface with a yellow background&#10;&#10;AI-generated content may be incorrect.">
            <a:extLst>
              <a:ext uri="{FF2B5EF4-FFF2-40B4-BE49-F238E27FC236}">
                <a16:creationId xmlns:a16="http://schemas.microsoft.com/office/drawing/2014/main" id="{0CE98DC0-E0DA-DFC7-E908-41FD9B85C5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08893" y="7071260"/>
            <a:ext cx="2621507" cy="11583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0FA4B-1F55-8FA5-E220-79DF286F0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3BCE9FD-FB0C-2D7A-D171-64D15C544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38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006CC-0C40-D356-7DBD-17F14D80C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computer screen shot of a computer screen&#10;&#10;AI-generated content may be incorrect.">
            <a:extLst>
              <a:ext uri="{FF2B5EF4-FFF2-40B4-BE49-F238E27FC236}">
                <a16:creationId xmlns:a16="http://schemas.microsoft.com/office/drawing/2014/main" id="{A8A619FB-84A5-20CF-9257-E020EE394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564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244" y="573048"/>
            <a:ext cx="1389221" cy="377547"/>
          </a:xfrm>
          <a:prstGeom prst="roundRect">
            <a:avLst>
              <a:gd name="adj" fmla="val 6454"/>
            </a:avLst>
          </a:prstGeom>
          <a:solidFill>
            <a:srgbClr val="E2ECD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4045" y="680561"/>
            <a:ext cx="162401" cy="1624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7647" y="633889"/>
            <a:ext cx="902018" cy="25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ADVANCED AI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812244" y="1029295"/>
            <a:ext cx="7612856" cy="597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Agent Swarm: Multi-Agent System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812244" y="1921788"/>
            <a:ext cx="13005911" cy="639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autonomous agent architecture enables complex, multi-step reasoning through specialised agents working in coordination to solve sophisticated problems.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244" y="2783086"/>
            <a:ext cx="1015246" cy="12183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24301" y="2986088"/>
            <a:ext cx="2866787" cy="358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Planner Agent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2024301" y="3462576"/>
            <a:ext cx="11793855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Breaks down user queries into structured, actionable tasks with clear execution paths.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244" y="4001453"/>
            <a:ext cx="1015246" cy="121836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024301" y="4204454"/>
            <a:ext cx="2866787" cy="358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Coder Agent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2024301" y="4680942"/>
            <a:ext cx="11793855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Implements secure Python logic in a sandboxed environment with real-time execution monitoring.</a:t>
            </a:r>
            <a:endParaRPr lang="en-US" sz="15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244" y="5219819"/>
            <a:ext cx="1015246" cy="121836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024301" y="5422821"/>
            <a:ext cx="2866787" cy="358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Reviewer Agent</a:t>
            </a:r>
            <a:endParaRPr lang="en-US" sz="2250" dirty="0"/>
          </a:p>
        </p:txBody>
      </p:sp>
      <p:sp>
        <p:nvSpPr>
          <p:cNvPr id="15" name="Text 9"/>
          <p:cNvSpPr/>
          <p:nvPr/>
        </p:nvSpPr>
        <p:spPr>
          <a:xfrm>
            <a:off x="2024301" y="5899309"/>
            <a:ext cx="11793855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Verifies output accuracy and security compliance before delivering results to users.</a:t>
            </a:r>
            <a:endParaRPr lang="en-US" sz="15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244" y="6438186"/>
            <a:ext cx="1015246" cy="121836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024301" y="6641187"/>
            <a:ext cx="2866787" cy="358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Researcher Agent</a:t>
            </a:r>
            <a:endParaRPr lang="en-US" sz="2250" dirty="0"/>
          </a:p>
        </p:txBody>
      </p:sp>
      <p:sp>
        <p:nvSpPr>
          <p:cNvPr id="18" name="Text 11"/>
          <p:cNvSpPr/>
          <p:nvPr/>
        </p:nvSpPr>
        <p:spPr>
          <a:xfrm>
            <a:off x="2024301" y="7117675"/>
            <a:ext cx="11793855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Performs real-time web searches using DuckDuckGo to augment responses with current information.</a:t>
            </a:r>
            <a:endParaRPr lang="en-US" sz="1550" dirty="0"/>
          </a:p>
        </p:txBody>
      </p:sp>
      <p:pic>
        <p:nvPicPr>
          <p:cNvPr id="20" name="Picture 19" descr="A white surface with a yellow background&#10;&#10;AI-generated content may be incorrect.">
            <a:extLst>
              <a:ext uri="{FF2B5EF4-FFF2-40B4-BE49-F238E27FC236}">
                <a16:creationId xmlns:a16="http://schemas.microsoft.com/office/drawing/2014/main" id="{939C8BEF-8FAE-76FB-84B2-F3FA9649FE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08893" y="6968903"/>
            <a:ext cx="2621507" cy="11583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59218-A8CF-4B5A-B98E-7B858AE8D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B5C92FFB-6FEE-E60A-94AE-828E4DCF2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999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45275" y="874990"/>
            <a:ext cx="616744" cy="284440"/>
          </a:xfrm>
          <a:prstGeom prst="roundRect">
            <a:avLst>
              <a:gd name="adj" fmla="val 6901"/>
            </a:avLst>
          </a:prstGeom>
          <a:solidFill>
            <a:srgbClr val="E2ECD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3382" y="951786"/>
            <a:ext cx="130850" cy="130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9597" y="924044"/>
            <a:ext cx="224314" cy="186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245275" y="1210508"/>
            <a:ext cx="4274106" cy="481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RAG - Talk to Your Data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245275" y="1883093"/>
            <a:ext cx="12139732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Retrieval-Augmented Generation (RAG) enables users to interact with their own documents through natural language, transforming static files into dynamic knowledge sources.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245275" y="2387322"/>
            <a:ext cx="2353866" cy="28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Document Processing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45275" y="2803446"/>
            <a:ext cx="5870257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Drag-and-drop upload for PDF, DOCX, and TXT files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245275" y="3081099"/>
            <a:ext cx="5870257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Automatic text extraction and chunking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245275" y="3358753"/>
            <a:ext cx="5870257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Semantic embedding generation using BGE-Large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245275" y="3719393"/>
            <a:ext cx="2309098" cy="28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Intelligent Retrieval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45275" y="4135517"/>
            <a:ext cx="5870257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ChromaDB integration for semantic vector search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245275" y="4413171"/>
            <a:ext cx="5870257" cy="466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Context injection: automatically appends relevant document sections into AI prompts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245275" y="4923830"/>
            <a:ext cx="5870257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Source attribution with document references in responses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522250" y="2403277"/>
            <a:ext cx="163473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01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522250" y="2658308"/>
            <a:ext cx="5870257" cy="22860"/>
          </a:xfrm>
          <a:prstGeom prst="rect">
            <a:avLst/>
          </a:prstGeom>
          <a:solidFill>
            <a:srgbClr val="3851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522250" y="2785705"/>
            <a:ext cx="1924288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Upload Documents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522250" y="3153847"/>
            <a:ext cx="5870257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Drag and drop files into the platform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522250" y="3637121"/>
            <a:ext cx="163473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02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522250" y="3892153"/>
            <a:ext cx="5870257" cy="22860"/>
          </a:xfrm>
          <a:prstGeom prst="rect">
            <a:avLst/>
          </a:prstGeom>
          <a:solidFill>
            <a:srgbClr val="3851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522250" y="4019550"/>
            <a:ext cx="1924288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Vector Embedding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522250" y="4387691"/>
            <a:ext cx="5870257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Documents are processed and stored in ChromaDB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522250" y="4870966"/>
            <a:ext cx="163473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03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522250" y="5125998"/>
            <a:ext cx="5870257" cy="22860"/>
          </a:xfrm>
          <a:prstGeom prst="rect">
            <a:avLst/>
          </a:prstGeom>
          <a:solidFill>
            <a:srgbClr val="3851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7522250" y="5253395"/>
            <a:ext cx="1924288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Semantic Search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522250" y="5621536"/>
            <a:ext cx="5870257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Relevant context is retrieved based on queries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522250" y="6104811"/>
            <a:ext cx="163473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04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522250" y="6359843"/>
            <a:ext cx="5870257" cy="22860"/>
          </a:xfrm>
          <a:prstGeom prst="rect">
            <a:avLst/>
          </a:prstGeom>
          <a:solidFill>
            <a:srgbClr val="3851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7522250" y="6487239"/>
            <a:ext cx="1924288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Contextual Response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7522250" y="6855381"/>
            <a:ext cx="5870257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generates answers using document context</a:t>
            </a:r>
            <a:endParaRPr lang="en-US" sz="1250" dirty="0"/>
          </a:p>
        </p:txBody>
      </p:sp>
      <p:pic>
        <p:nvPicPr>
          <p:cNvPr id="32" name="Picture 31" descr="A white surface with a yellow background&#10;&#10;AI-generated content may be incorrect.">
            <a:extLst>
              <a:ext uri="{FF2B5EF4-FFF2-40B4-BE49-F238E27FC236}">
                <a16:creationId xmlns:a16="http://schemas.microsoft.com/office/drawing/2014/main" id="{C2C8F815-ADE0-B890-0586-C523648D28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08893" y="7071260"/>
            <a:ext cx="2621507" cy="11583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D064E-F657-6DDF-867F-095332BA7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19BD53-C068-7AD4-A145-F329D73BD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645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2592" y="890588"/>
            <a:ext cx="1254085" cy="329565"/>
          </a:xfrm>
          <a:prstGeom prst="roundRect">
            <a:avLst>
              <a:gd name="adj" fmla="val 6670"/>
            </a:avLst>
          </a:prstGeom>
          <a:solidFill>
            <a:srgbClr val="E2ECD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2486" y="982147"/>
            <a:ext cx="146447" cy="1464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2157" y="945475"/>
            <a:ext cx="814626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MULTIMODAL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732592" y="1284208"/>
            <a:ext cx="5751076" cy="538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Vision and Voice Capabilities</a:t>
            </a:r>
            <a:endParaRPr lang="en-US" sz="3350" dirty="0"/>
          </a:p>
        </p:txBody>
      </p:sp>
      <p:sp>
        <p:nvSpPr>
          <p:cNvPr id="6" name="Text 3"/>
          <p:cNvSpPr/>
          <p:nvPr/>
        </p:nvSpPr>
        <p:spPr>
          <a:xfrm>
            <a:off x="732592" y="2063234"/>
            <a:ext cx="13165217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platform extends beyond text to support comprehensive multimodal interactions, enabling users to communicate through images and voice.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2592" y="2678073"/>
            <a:ext cx="2585918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Vision Processing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2592" y="3161467"/>
            <a:ext cx="6359247" cy="549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Powered by Google Gemini, our vision capabilities enable sophisticated image understanding and analysis.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2592" y="3854648"/>
            <a:ext cx="6359247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Optical Character Recognition (OCR) for text extraction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2592" y="4185166"/>
            <a:ext cx="6359247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Object detection and classification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2592" y="4515683"/>
            <a:ext cx="6359247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Scene understanding and image description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2592" y="4846201"/>
            <a:ext cx="6359247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Visual question answering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7269" y="5300901"/>
            <a:ext cx="6084570" cy="549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i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"Upload an image and ask questions about its content, extract text, or analyse visual elements with AI-powered precision."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2592" y="5300901"/>
            <a:ext cx="22860" cy="549116"/>
          </a:xfrm>
          <a:prstGeom prst="rect">
            <a:avLst/>
          </a:prstGeom>
          <a:solidFill>
            <a:srgbClr val="3851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7546181" y="2678073"/>
            <a:ext cx="2585918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Voice Interaction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546181" y="3161467"/>
            <a:ext cx="6359247" cy="549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Seamless speech-to-text and text-to-speech capabilities make the platform accessible and convenient.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546181" y="3870722"/>
            <a:ext cx="2154912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Speech-to-Text (STT)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7546181" y="4300180"/>
            <a:ext cx="6359247" cy="549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Powered by Whisper Large V3 via Groq for accurate transcription with support for multiple languages and accents.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546181" y="5009436"/>
            <a:ext cx="2167652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Text-to-Speech (TTS)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7546181" y="5438894"/>
            <a:ext cx="6359247" cy="549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Unreal Speech with Sierra Voice delivers natural-sounding audio output for AI responses.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546181" y="6168152"/>
            <a:ext cx="6359247" cy="990600"/>
          </a:xfrm>
          <a:prstGeom prst="roundRect">
            <a:avLst>
              <a:gd name="adj" fmla="val 2774"/>
            </a:avLst>
          </a:prstGeom>
          <a:solidFill>
            <a:srgbClr val="D4E3C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9299" y="6427232"/>
            <a:ext cx="228957" cy="18311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141375" y="6374011"/>
            <a:ext cx="5580936" cy="549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Accessibility First:</a:t>
            </a:r>
            <a:r>
              <a:rPr lang="en-US" sz="14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Voice features ensure the platform is usable for all users, including those with visual impairments or mobility challenges.</a:t>
            </a:r>
            <a:endParaRPr lang="en-US" sz="1400" dirty="0"/>
          </a:p>
        </p:txBody>
      </p:sp>
      <p:pic>
        <p:nvPicPr>
          <p:cNvPr id="25" name="Picture 24" descr="A white surface with a yellow background&#10;&#10;AI-generated content may be incorrect.">
            <a:extLst>
              <a:ext uri="{FF2B5EF4-FFF2-40B4-BE49-F238E27FC236}">
                <a16:creationId xmlns:a16="http://schemas.microsoft.com/office/drawing/2014/main" id="{85C3E768-ED34-08C1-F26E-CD16B5A307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52082" y="7316503"/>
            <a:ext cx="2078318" cy="9183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9C814-18D5-0D04-9EE4-FDF7E7B84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A computer screen shot of a car&#10;&#10;AI-generated content may be incorrect.">
            <a:extLst>
              <a:ext uri="{FF2B5EF4-FFF2-40B4-BE49-F238E27FC236}">
                <a16:creationId xmlns:a16="http://schemas.microsoft.com/office/drawing/2014/main" id="{2605DD83-A061-765A-F2B6-C98B8DC4A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163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428" y="786765"/>
            <a:ext cx="1075373" cy="344686"/>
          </a:xfrm>
          <a:prstGeom prst="roundRect">
            <a:avLst>
              <a:gd name="adj" fmla="val 6601"/>
            </a:avLst>
          </a:prstGeom>
          <a:solidFill>
            <a:srgbClr val="E2ECD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2133" y="883206"/>
            <a:ext cx="151686" cy="1516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9661" y="843558"/>
            <a:ext cx="620435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SECURITY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758428" y="1200031"/>
            <a:ext cx="5429845" cy="557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Privacy and Security Vault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758428" y="2015014"/>
            <a:ext cx="13113544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Security is embedded at every layer of our architecture, ensuring data protection, user privacy, and system integrity through multiple defence mechanisms.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58428" y="2781419"/>
            <a:ext cx="6470928" cy="1702118"/>
          </a:xfrm>
          <a:prstGeom prst="roundRect">
            <a:avLst>
              <a:gd name="adj" fmla="val 6447"/>
            </a:avLst>
          </a:prstGeom>
          <a:solidFill>
            <a:srgbClr val="FEF5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758428" y="2758559"/>
            <a:ext cx="6470928" cy="91440"/>
          </a:xfrm>
          <a:prstGeom prst="roundRect">
            <a:avLst>
              <a:gd name="adj" fmla="val 31105"/>
            </a:avLst>
          </a:prstGeom>
          <a:solidFill>
            <a:srgbClr val="3851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3709452" y="2497098"/>
            <a:ext cx="568762" cy="568762"/>
          </a:xfrm>
          <a:prstGeom prst="roundRect">
            <a:avLst>
              <a:gd name="adj" fmla="val 160770"/>
            </a:avLst>
          </a:prstGeom>
          <a:solidFill>
            <a:srgbClr val="3851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80068" y="2667595"/>
            <a:ext cx="227528" cy="2275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70836" y="3255407"/>
            <a:ext cx="2676882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Secure Sandbox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970836" y="3692962"/>
            <a:ext cx="6046113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Code agents run inside isolated Docker containers, preventing unauthorised system access and ensuring execution safety.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7400925" y="2781419"/>
            <a:ext cx="6471047" cy="1702118"/>
          </a:xfrm>
          <a:prstGeom prst="roundRect">
            <a:avLst>
              <a:gd name="adj" fmla="val 6447"/>
            </a:avLst>
          </a:prstGeom>
          <a:solidFill>
            <a:srgbClr val="FEF5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7400925" y="2758559"/>
            <a:ext cx="6471047" cy="91440"/>
          </a:xfrm>
          <a:prstGeom prst="roundRect">
            <a:avLst>
              <a:gd name="adj" fmla="val 31105"/>
            </a:avLst>
          </a:prstGeom>
          <a:solidFill>
            <a:srgbClr val="3851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10352068" y="2497098"/>
            <a:ext cx="568762" cy="568762"/>
          </a:xfrm>
          <a:prstGeom prst="roundRect">
            <a:avLst>
              <a:gd name="adj" fmla="val 160770"/>
            </a:avLst>
          </a:prstGeom>
          <a:solidFill>
            <a:srgbClr val="3851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22684" y="2667595"/>
            <a:ext cx="227528" cy="2275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613333" y="3255407"/>
            <a:ext cx="2676882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PII Scrubbing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7613333" y="3692962"/>
            <a:ext cx="6046232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Automatic removal of emails, phone numbers, and other personally identifiable information before database storage.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758428" y="4939427"/>
            <a:ext cx="6470928" cy="1702118"/>
          </a:xfrm>
          <a:prstGeom prst="roundRect">
            <a:avLst>
              <a:gd name="adj" fmla="val 6447"/>
            </a:avLst>
          </a:prstGeom>
          <a:solidFill>
            <a:srgbClr val="FEF5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758428" y="4916567"/>
            <a:ext cx="6470928" cy="91440"/>
          </a:xfrm>
          <a:prstGeom prst="roundRect">
            <a:avLst>
              <a:gd name="adj" fmla="val 31105"/>
            </a:avLst>
          </a:prstGeom>
          <a:solidFill>
            <a:srgbClr val="3851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3709452" y="4655106"/>
            <a:ext cx="568762" cy="568762"/>
          </a:xfrm>
          <a:prstGeom prst="roundRect">
            <a:avLst>
              <a:gd name="adj" fmla="val 160770"/>
            </a:avLst>
          </a:prstGeom>
          <a:solidFill>
            <a:srgbClr val="3851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80068" y="4825603"/>
            <a:ext cx="227528" cy="2275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70836" y="5413415"/>
            <a:ext cx="2676882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Authentication</a:t>
            </a:r>
            <a:endParaRPr lang="en-US" sz="2100" dirty="0"/>
          </a:p>
        </p:txBody>
      </p:sp>
      <p:sp>
        <p:nvSpPr>
          <p:cNvPr id="24" name="Text 18"/>
          <p:cNvSpPr/>
          <p:nvPr/>
        </p:nvSpPr>
        <p:spPr>
          <a:xfrm>
            <a:off x="970836" y="5850969"/>
            <a:ext cx="6046113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JWT-based login system with secure token management and session handling for user access control.</a:t>
            </a:r>
            <a:endParaRPr lang="en-US" sz="1450" dirty="0"/>
          </a:p>
        </p:txBody>
      </p:sp>
      <p:sp>
        <p:nvSpPr>
          <p:cNvPr id="25" name="Shape 19"/>
          <p:cNvSpPr/>
          <p:nvPr/>
        </p:nvSpPr>
        <p:spPr>
          <a:xfrm>
            <a:off x="7400925" y="4939427"/>
            <a:ext cx="6471047" cy="1702118"/>
          </a:xfrm>
          <a:prstGeom prst="roundRect">
            <a:avLst>
              <a:gd name="adj" fmla="val 6447"/>
            </a:avLst>
          </a:prstGeom>
          <a:solidFill>
            <a:srgbClr val="FEF5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7400925" y="4916567"/>
            <a:ext cx="6471047" cy="91440"/>
          </a:xfrm>
          <a:prstGeom prst="roundRect">
            <a:avLst>
              <a:gd name="adj" fmla="val 31105"/>
            </a:avLst>
          </a:prstGeom>
          <a:solidFill>
            <a:srgbClr val="3851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10352068" y="4655106"/>
            <a:ext cx="568762" cy="568762"/>
          </a:xfrm>
          <a:prstGeom prst="roundRect">
            <a:avLst>
              <a:gd name="adj" fmla="val 160770"/>
            </a:avLst>
          </a:prstGeom>
          <a:solidFill>
            <a:srgbClr val="38512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22684" y="4825603"/>
            <a:ext cx="227528" cy="22752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613333" y="5413415"/>
            <a:ext cx="2676882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Database Hardening</a:t>
            </a:r>
            <a:endParaRPr lang="en-US" sz="2100" dirty="0"/>
          </a:p>
        </p:txBody>
      </p:sp>
      <p:sp>
        <p:nvSpPr>
          <p:cNvPr id="30" name="Text 23"/>
          <p:cNvSpPr/>
          <p:nvPr/>
        </p:nvSpPr>
        <p:spPr>
          <a:xfrm>
            <a:off x="7613333" y="5850969"/>
            <a:ext cx="6046232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Encrypted fields, secure access control, and regular security audits protect stored data from unauthorised access.</a:t>
            </a:r>
            <a:endParaRPr lang="en-US" sz="1450" dirty="0"/>
          </a:p>
        </p:txBody>
      </p:sp>
      <p:sp>
        <p:nvSpPr>
          <p:cNvPr id="31" name="Shape 24"/>
          <p:cNvSpPr/>
          <p:nvPr/>
        </p:nvSpPr>
        <p:spPr>
          <a:xfrm>
            <a:off x="758428" y="6929336"/>
            <a:ext cx="13113544" cy="31313"/>
          </a:xfrm>
          <a:prstGeom prst="rect">
            <a:avLst/>
          </a:prstGeom>
          <a:solidFill>
            <a:srgbClr val="3A3630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5"/>
          <p:cNvSpPr/>
          <p:nvPr/>
        </p:nvSpPr>
        <p:spPr>
          <a:xfrm>
            <a:off x="758428" y="7153632"/>
            <a:ext cx="13113544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50" dirty="0">
                <a:solidFill>
                  <a:srgbClr val="FFFFFF"/>
                </a:solidFill>
                <a:highlight>
                  <a:srgbClr val="38512F"/>
                </a:highlight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security measures are designed to meet enterprise compliance requirements whilst maintaining system performance and usability.</a:t>
            </a:r>
            <a:endParaRPr lang="en-US" sz="1450" dirty="0"/>
          </a:p>
        </p:txBody>
      </p:sp>
      <p:pic>
        <p:nvPicPr>
          <p:cNvPr id="34" name="Picture 33" descr="A white surface with a yellow background&#10;&#10;AI-generated content may be incorrect.">
            <a:extLst>
              <a:ext uri="{FF2B5EF4-FFF2-40B4-BE49-F238E27FC236}">
                <a16:creationId xmlns:a16="http://schemas.microsoft.com/office/drawing/2014/main" id="{A957863C-AB5F-E2E1-9368-B6119363CE7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333058" y="7153632"/>
            <a:ext cx="2297342" cy="10151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99908-5A03-2F41-44BC-A7EC75C29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B8A66A-1876-B438-2C05-9BFCAE688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383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4385" y="563285"/>
            <a:ext cx="4673084" cy="584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System Architecture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94385" y="1524000"/>
            <a:ext cx="13041630" cy="309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architecture follows a modular, microservices-based design that ensures scalability, maintainability, and fault tolerance across all system components.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180" y="2045256"/>
            <a:ext cx="12888039" cy="56209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4279" y="2330389"/>
            <a:ext cx="2761508" cy="344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React UI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894936" y="2779704"/>
            <a:ext cx="2790851" cy="571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Bidirectional REST/WebSocket to gateway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661583" y="3204160"/>
            <a:ext cx="2761508" cy="344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FastAPI Gateway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661583" y="3653476"/>
            <a:ext cx="2790851" cy="571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Central API, routing and auth layer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207004" y="4208345"/>
            <a:ext cx="2761508" cy="344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Layer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77661" y="4657660"/>
            <a:ext cx="2790852" cy="571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Redis, PostgreSQL, ChromaDB storage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0661583" y="5421191"/>
            <a:ext cx="2761508" cy="344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Agent Orchestration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661583" y="5870507"/>
            <a:ext cx="2790851" cy="571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Planner → Coder → Docker → Reviewer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429631" y="6187779"/>
            <a:ext cx="2790852" cy="689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2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External &amp; Local AI Models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2429631" y="6982079"/>
            <a:ext cx="2790852" cy="571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00"/>
              </a:lnSpc>
              <a:buNone/>
            </a:pPr>
            <a:r>
              <a:rPr lang="en-US" sz="10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Groq, Gemini Vision, Ollama local</a:t>
            </a:r>
            <a:endParaRPr lang="en-US" sz="1050" dirty="0"/>
          </a:p>
        </p:txBody>
      </p:sp>
      <p:pic>
        <p:nvPicPr>
          <p:cNvPr id="16" name="Picture 15" descr="A white surface with a yellow background&#10;&#10;AI-generated content may be incorrect.">
            <a:extLst>
              <a:ext uri="{FF2B5EF4-FFF2-40B4-BE49-F238E27FC236}">
                <a16:creationId xmlns:a16="http://schemas.microsoft.com/office/drawing/2014/main" id="{6F395BF4-8AD6-BEC9-5025-6621E8AAE5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8893" y="7047197"/>
            <a:ext cx="2621507" cy="11583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804863"/>
            <a:ext cx="1573649" cy="393502"/>
          </a:xfrm>
          <a:prstGeom prst="roundRect">
            <a:avLst>
              <a:gd name="adj" fmla="val 6388"/>
            </a:avLst>
          </a:prstGeom>
          <a:solidFill>
            <a:srgbClr val="E2ECD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3335" y="917853"/>
            <a:ext cx="167521" cy="1675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4557" y="867608"/>
            <a:ext cx="1071205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37724" y="1282065"/>
            <a:ext cx="6871930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Performance &amp; Benchmarking</a:t>
            </a:r>
            <a:endParaRPr lang="en-US" sz="3850" dirty="0"/>
          </a:p>
        </p:txBody>
      </p:sp>
      <p:sp>
        <p:nvSpPr>
          <p:cNvPr id="6" name="Text 3"/>
          <p:cNvSpPr/>
          <p:nvPr/>
        </p:nvSpPr>
        <p:spPr>
          <a:xfrm>
            <a:off x="837724" y="2212062"/>
            <a:ext cx="1295495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platform is engineered for speed, accuracy, and efficiency, consistently delivering superior performance across all critical metrics.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7724" y="2887385"/>
            <a:ext cx="6346508" cy="69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97%+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2778919" y="3840242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Reasoning Accuracy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37724" y="4273868"/>
            <a:ext cx="6346508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 precision through consensus-based validation.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46050" y="2887385"/>
            <a:ext cx="6346627" cy="69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100+</a:t>
            </a:r>
            <a:endParaRPr lang="en-US" sz="5400" dirty="0"/>
          </a:p>
        </p:txBody>
      </p:sp>
      <p:sp>
        <p:nvSpPr>
          <p:cNvPr id="11" name="Text 8"/>
          <p:cNvSpPr/>
          <p:nvPr/>
        </p:nvSpPr>
        <p:spPr>
          <a:xfrm>
            <a:off x="9387245" y="3840242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Requests/Sec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7446050" y="4273868"/>
            <a:ext cx="6346627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Achieved with caching enabled for high throughput.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141827" y="5132427"/>
            <a:ext cx="6346627" cy="691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&lt;10ms</a:t>
            </a:r>
            <a:endParaRPr lang="en-US" sz="5400" dirty="0"/>
          </a:p>
        </p:txBody>
      </p:sp>
      <p:sp>
        <p:nvSpPr>
          <p:cNvPr id="14" name="Text 11"/>
          <p:cNvSpPr/>
          <p:nvPr/>
        </p:nvSpPr>
        <p:spPr>
          <a:xfrm>
            <a:off x="6083022" y="6085284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API Latency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4141827" y="6518910"/>
            <a:ext cx="6346627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Sub-10ms for internal API processing ensures rapid interactions.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7724" y="7089577"/>
            <a:ext cx="1295495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These benchmarks demonstrate our commitment to delivering a high-performing, reliable, and responsive generative AI chatbot experience.</a:t>
            </a:r>
            <a:endParaRPr lang="en-US" sz="1600" dirty="0"/>
          </a:p>
        </p:txBody>
      </p:sp>
      <p:pic>
        <p:nvPicPr>
          <p:cNvPr id="18" name="Picture 17" descr="A white surface with a yellow background&#10;&#10;AI-generated content may be incorrect.">
            <a:extLst>
              <a:ext uri="{FF2B5EF4-FFF2-40B4-BE49-F238E27FC236}">
                <a16:creationId xmlns:a16="http://schemas.microsoft.com/office/drawing/2014/main" id="{EA6D0A84-F312-EAE3-5F32-1D08BEC97C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98183" y="7331644"/>
            <a:ext cx="2032217" cy="8979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011198"/>
            <a:ext cx="806768" cy="393502"/>
          </a:xfrm>
          <a:prstGeom prst="roundRect">
            <a:avLst>
              <a:gd name="adj" fmla="val 6388"/>
            </a:avLst>
          </a:prstGeom>
          <a:solidFill>
            <a:srgbClr val="E2ECD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3335" y="1124188"/>
            <a:ext cx="167521" cy="1675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4557" y="1073944"/>
            <a:ext cx="304324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Q&amp;A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37724" y="1488400"/>
            <a:ext cx="5399365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Questions &amp; Discussion</a:t>
            </a:r>
            <a:endParaRPr lang="en-US" sz="3850" dirty="0"/>
          </a:p>
        </p:txBody>
      </p:sp>
      <p:sp>
        <p:nvSpPr>
          <p:cNvPr id="6" name="Text 3"/>
          <p:cNvSpPr/>
          <p:nvPr/>
        </p:nvSpPr>
        <p:spPr>
          <a:xfrm>
            <a:off x="837724" y="2418398"/>
            <a:ext cx="129549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We've covered a lot of ground today. Now, we'd love to hear your thoughts, answer any questions you might have, and discuss how this platform can address your specific needs.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7724" y="3324106"/>
            <a:ext cx="1295495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Please feel free to connect with us for more detailed information or to explore potential collaborations: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7724" y="3894773"/>
            <a:ext cx="1295495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37724" y="4543901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Thank You</a:t>
            </a:r>
            <a:endParaRPr lang="en-US" sz="3850" dirty="0"/>
          </a:p>
        </p:txBody>
      </p:sp>
      <p:sp>
        <p:nvSpPr>
          <p:cNvPr id="10" name="Text 7"/>
          <p:cNvSpPr/>
          <p:nvPr/>
        </p:nvSpPr>
        <p:spPr>
          <a:xfrm>
            <a:off x="837724" y="5473898"/>
            <a:ext cx="129549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 extend our sincere gratitude to our guide, faculty members, and evaluators for their invaluable time, insights, and continuous guidance throughout this project.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37724" y="6379607"/>
            <a:ext cx="1295495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 deeply appreciate the opportunity to present our work today.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37724" y="6950273"/>
            <a:ext cx="12954952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 and Implementation of a Secure, Self-Hosted Generative AI Chatbot Platform</a:t>
            </a:r>
            <a:endParaRPr lang="en-US" sz="1300" dirty="0"/>
          </a:p>
        </p:txBody>
      </p:sp>
      <p:pic>
        <p:nvPicPr>
          <p:cNvPr id="14" name="Picture 13" descr="A white surface with a yellow background&#10;&#10;AI-generated content may be incorrect.">
            <a:extLst>
              <a:ext uri="{FF2B5EF4-FFF2-40B4-BE49-F238E27FC236}">
                <a16:creationId xmlns:a16="http://schemas.microsoft.com/office/drawing/2014/main" id="{C6DB044F-E3D4-60B4-7022-D4E8A2C304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08893" y="7071260"/>
            <a:ext cx="2621507" cy="11583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1222</Words>
  <Application>Microsoft Office PowerPoint</Application>
  <PresentationFormat>Custom</PresentationFormat>
  <Paragraphs>176</Paragraphs>
  <Slides>19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Gugulothu Bhavith</cp:lastModifiedBy>
  <cp:revision>2</cp:revision>
  <dcterms:created xsi:type="dcterms:W3CDTF">2026-01-27T02:59:55Z</dcterms:created>
  <dcterms:modified xsi:type="dcterms:W3CDTF">2026-01-27T03:59:17Z</dcterms:modified>
</cp:coreProperties>
</file>